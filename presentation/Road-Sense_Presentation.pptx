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Road-Sense: Real-Time Object Detection</a:t>
            </a:r>
            <a:br/>
            <a:r>
              <a:t>for Autonomous Vehicles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Team: Abdallah Zain, Menna Farghaly, Aya Ahmed, FatmaElzahraa Wahby,</a:t>
            </a:r>
            <a:br/>
            <a:r>
              <a:t>Mohamed El Mawgoud, Ahmed Elkady</a:t>
            </a:r>
          </a:p>
          <a:p>
            <a:pPr>
              <a:spcAft>
                <a:spcPts val="1200"/>
              </a:spcAft>
              <a:defRPr sz="2000"/>
            </a:pPr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Autonomous vehicles must detect objects in real-time</a:t>
            </a:r>
          </a:p>
          <a:p>
            <a:pPr>
              <a:spcAft>
                <a:spcPts val="1200"/>
              </a:spcAft>
              <a:defRPr sz="2000"/>
            </a:pPr>
            <a:r>
              <a:t>KITTI: 3 classes (Vehicle, Pedestrian, Cyclist)</a:t>
            </a:r>
          </a:p>
          <a:p>
            <a:pPr>
              <a:spcAft>
                <a:spcPts val="1200"/>
              </a:spcAft>
              <a:defRPr sz="2000"/>
            </a:pPr>
            <a:r>
              <a:t>Target: ≥30 FPS, mAP@50 ≥0.90, RAM &lt; 2 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Dataset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KITTI: 7,481 images, 24,128 objects</a:t>
            </a:r>
          </a:p>
          <a:p>
            <a:pPr>
              <a:spcAft>
                <a:spcPts val="1200"/>
              </a:spcAft>
              <a:defRPr sz="2000"/>
            </a:pPr>
            <a:r>
              <a:t>70/20/10 split, augmentation (Mosaic, MixUp, HSV)</a:t>
            </a:r>
          </a:p>
          <a:p>
            <a:pPr>
              <a:spcAft>
                <a:spcPts val="1200"/>
              </a:spcAft>
              <a:defRPr sz="2000"/>
            </a:pPr>
            <a:r>
              <a:t>Quality validation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Model: YOLO11m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20.0M params, 67.7 GFLOPs, COCO pretrained</a:t>
            </a:r>
          </a:p>
          <a:p>
            <a:pPr>
              <a:spcAft>
                <a:spcPts val="1200"/>
              </a:spcAft>
              <a:defRPr sz="2000"/>
            </a:pPr>
            <a:r>
              <a:t>Alternatives evaluated: YOLOv8s, SSD, Faster R-CNN</a:t>
            </a:r>
          </a:p>
          <a:p>
            <a:pPr>
              <a:spcAft>
                <a:spcPts val="1200"/>
              </a:spcAft>
              <a:defRPr sz="2000"/>
            </a:pPr>
            <a:r>
              <a:t>Winner: YOLO11m - best accuracy-speed tradeoff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HPO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Baseline: mAP@50=0.942, mAP@50:95=0.768</a:t>
            </a:r>
          </a:p>
          <a:p>
            <a:pPr>
              <a:spcAft>
                <a:spcPts val="1200"/>
              </a:spcAft>
              <a:defRPr sz="2000"/>
            </a:pPr>
            <a:r>
              <a:t>HPO: Optuna 2-stage, AdamW lr=0.00042 mixup=0.99</a:t>
            </a:r>
          </a:p>
          <a:p>
            <a:pPr>
              <a:spcAft>
                <a:spcPts val="1200"/>
              </a:spcAft>
              <a:defRPr sz="2000"/>
            </a:pPr>
            <a:r>
              <a:t>HPO: mAP@50=0.935, Precision=0.893, Recall=0.894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mAP@50: 0.935, mAP@50:95: 0.725</a:t>
            </a:r>
          </a:p>
          <a:p>
            <a:pPr>
              <a:spcAft>
                <a:spcPts val="1200"/>
              </a:spcAft>
              <a:defRPr sz="2000"/>
            </a:pPr>
            <a:r>
              <a:t>GPU: 36.4 FPS (exceeds 30 FPS target)</a:t>
            </a:r>
          </a:p>
          <a:p>
            <a:pPr>
              <a:spcAft>
                <a:spcPts val="1200"/>
              </a:spcAft>
              <a:defRPr sz="2000"/>
            </a:pPr>
            <a:r>
              <a:t>RAM: 1.66 GB (under 2 GB KPI)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Export Formats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ONNX FP16: 44.1 FPS, zero accuracy loss</a:t>
            </a:r>
          </a:p>
          <a:p>
            <a:pPr>
              <a:spcAft>
                <a:spcPts val="1200"/>
              </a:spcAft>
              <a:defRPr sz="2000"/>
            </a:pPr>
            <a:r>
              <a:t>TFLite INT8: 19.7 MB, 51% smaller, zero loss</a:t>
            </a:r>
          </a:p>
          <a:p>
            <a:pPr>
              <a:spcAft>
                <a:spcPts val="1200"/>
              </a:spcAft>
              <a:defRPr sz="2000"/>
            </a:pPr>
            <a:r>
              <a:t>Recommended: ONNX FP16 for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FastAPI + ONNX Runtime + Prometheus</a:t>
            </a:r>
          </a:p>
          <a:p>
            <a:pPr>
              <a:spcAft>
                <a:spcPts val="1200"/>
              </a:spcAft>
              <a:defRPr sz="2000"/>
            </a:pPr>
            <a:r>
              <a:t>Docker container, memory monitoring</a:t>
            </a:r>
          </a:p>
          <a:p>
            <a:pPr>
              <a:spcAft>
                <a:spcPts val="1200"/>
              </a:spcAft>
              <a:defRPr sz="2000"/>
            </a:pPr>
            <a:r>
              <a:t>GitHub: Abdallah4Z/Road-Sense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Transfer learning highly effective on KITTI</a:t>
            </a:r>
          </a:p>
          <a:p>
            <a:pPr>
              <a:spcAft>
                <a:spcPts val="1200"/>
              </a:spcAft>
              <a:defRPr sz="2000"/>
            </a:pPr>
            <a:r>
              <a:t>HPO Stage 1 sufficient for coarse search</a:t>
            </a:r>
          </a:p>
          <a:p>
            <a:pPr>
              <a:spcAft>
                <a:spcPts val="1200"/>
              </a:spcAft>
              <a:defRPr sz="2000"/>
            </a:pPr>
            <a:r>
              <a:t>MixUp improves safety-critical detection</a:t>
            </a:r>
          </a:p>
          <a:p>
            <a:pPr>
              <a:spcAft>
                <a:spcPts val="1200"/>
              </a:spcAft>
              <a:defRPr sz="2000"/>
            </a:pPr>
            <a:r>
              <a:t>Pedestrian detection remains challenging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Questions?</a:t>
            </a:r>
          </a:p>
          <a:p>
            <a:pPr>
              <a:spcAft>
                <a:spcPts val="1200"/>
              </a:spcAft>
              <a:defRPr sz="2000"/>
            </a:pPr>
            <a:r>
              <a:t>https://abdallah4z.github.io/Road-Sense/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